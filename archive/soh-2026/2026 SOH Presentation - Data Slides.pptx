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5212" r:id="rId2"/>
    <p:sldId id="15213" r:id="rId3"/>
    <p:sldId id="15215" r:id="rId4"/>
    <p:sldId id="15216" r:id="rId5"/>
    <p:sldId id="15217" r:id="rId6"/>
    <p:sldId id="1521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B8E"/>
    <a:srgbClr val="2B6B9C"/>
    <a:srgbClr val="7CBCA5"/>
    <a:srgbClr val="0B2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6E138-A456-4A7C-88C6-A2A213891E7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567DB-10B8-488A-A6C1-CAE3E0688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55B6-85BE-174A-5CE3-A8E2A535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8080-38CB-9758-EB7A-3C3EFB8CC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B6122-3550-088D-A10D-EEF708E81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5D30E-28DA-C704-388E-3BD85363E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32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8314-CF00-CA2F-F970-036F1DE6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D23B7-E50D-4C3E-4E44-CB68EC3F3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315FB-F23A-D12E-46F1-F6673256B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DA958-63F4-40ED-3EDA-1F8EFCF00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9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5CF2-446B-2502-A532-BBE920C2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CA4F5-13A4-C1DF-1136-6C37B548D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006E2-BC71-B555-972D-DC929B513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990C3-8767-5BDB-032B-015E061C4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52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1098-3DA2-1BE3-A584-8956A603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82E66-E07E-2360-AD7B-72E3A8520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CD2BA-948E-F631-6DB7-7B3CEEB6F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6D4E-D825-69FC-EC53-72690ACDB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02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E313-5E67-2874-1BED-EAC6E838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802EC-C662-8712-7C14-6A7FAF528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1618D-FBD5-4090-0356-29DC5F885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3A99C-BD59-48BA-B105-E1F7E00F1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79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9DFF-3305-424D-D64A-016634CB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E28BA-F503-AA91-2BD4-4B01C299B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571DF-8FB1-0614-A41E-5C31DAF1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DF538-29E6-1F4D-0FB2-A9DE414FB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E6839-8FFB-468A-8D29-1E1C0B090D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3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EF64-B0E8-F6BC-B810-627DEC79D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3336B-1396-DB05-CEE3-CE0810934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6D08-778D-8FFA-D9BA-B10FD142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C95A9-F9B5-248C-B90C-3572868A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89496-DA0B-EDED-7218-AFAB615E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E34F-BC4B-3445-DE98-D2D1DB9A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76201-6BA9-7659-1B76-A0A758DEB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279CD-E517-B9CD-6C1B-AB3A70CB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E6B2-129A-4967-107D-27EB9DAF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0F040-7668-8A8C-26DD-B43E4E6B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2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2CDE-C438-0BB5-747A-ADF55C31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E47A1-8173-FB97-5C88-7A3B7667B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FF5CF-38B2-8B2D-28AB-7AF081B1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AACE0-EA83-15D8-D6D7-441029B0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0C0A9-6918-D0D9-EA1F-8A627EBD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8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3E70-27E1-C65B-1C66-AF99743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6F59-C1D6-739D-6A30-CF406C9E6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C7272-B271-E674-D0CC-E8115A913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A937-650C-9A8A-2AD9-07C86267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0F5C1-0BA3-5F8F-BE68-F09913F8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174FA-24F5-1C80-5117-BAA7F367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4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1356-D726-EAE0-3AE0-84E43FEB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A869-1A95-BCF5-3F38-00ED6BD89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05AD-ED37-E5C2-87B4-0B9908EBF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93AB1-1D66-4CC1-2C56-27290C447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32F4D-ECAA-B441-8093-8D04CF302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F631C-4A10-EE5F-D754-35E0F31F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E35EF-A125-4B19-A30E-EB07C148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073BD1-E896-5375-EAB3-6354ED7E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2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7394-71D9-F062-F3BC-1F8BBE27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7D5CD-787D-E866-1A1C-6FE0E68D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2AB56-3B9C-8A4F-68B5-68E998DE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CF25C-51C2-D2DE-3C7A-1D489DE9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8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0C30C-174B-EC67-18B3-D848DEA4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39D5B-998C-843D-2BEA-5B97DB8F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5D8CF-3DFC-8D8F-8F04-D235DC1C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8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96A7-8CED-8734-9662-E2581F0A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BB16-3B4C-0540-1F63-4FD3D20C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ED265-3627-453E-5F73-9F7A41DC2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66380-FEB6-C84F-B6C0-7D2D464F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31A02-D897-1D37-1CE8-8A1E57B4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9A53E-B12D-DFAA-D5B7-614E6D63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4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7A6A-0208-05E3-3C34-CB46B761B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91AF6-55AE-A751-C93C-6B07B961C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FCA4A-C521-18C9-319A-93AB8C8EF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9CCF-528F-2990-9CB8-A864B80B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61999-DBCB-3A25-E013-F4CF5D43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C1FC2-7C38-7E74-417F-1F276BA5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56E1-ADB3-2D54-4126-1A6EE18B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05389-AB56-4638-558C-6348BFCD3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7F11B-77BC-7D1D-DD5F-EC64CB79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95152-DDA3-186E-0B58-BA4DC839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8947-4004-DDFE-9841-8798160E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4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90BD5-C761-633F-0167-D0EAAFA00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19820-81E5-BE05-DEFC-B02DAE719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8E4A-2F31-560C-BF37-8E7BB24E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7128-3D42-CC2C-7A1B-B59A8413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70008-4444-A17C-B89E-1C7A254C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2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3B8C9-B4EE-B9E8-C9CF-A544144D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3786A-76E8-383B-01F0-6765A0042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785F0-525E-FEFB-D9F0-5CB6CD65A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69EFD-BA67-4BE2-A5DC-963F97E9E20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B2A7C-62DA-B62D-3854-06E593F39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C908-2CA7-9816-410B-2ED4E7BD4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1097A-F211-439D-98A4-58DED574E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3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29CD-C299-FF83-15EB-A7ABB68B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89E79-C451-6584-C2D9-57029F0FF711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67;p15">
            <a:extLst>
              <a:ext uri="{FF2B5EF4-FFF2-40B4-BE49-F238E27FC236}">
                <a16:creationId xmlns:a16="http://schemas.microsoft.com/office/drawing/2014/main" id="{0BC8604A-BAF1-E6B1-E3BB-3657F285D888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ulish Heavy"/>
                <a:sym typeface="Noto Sans Black"/>
              </a:rPr>
              <a:t>Most new residents arrive in moving vans, not baby strollers 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Annual components of population change: 2022 to 2024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B731E9-1FAB-35E4-2703-379E0E6C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1</a:t>
            </a:fld>
            <a:endParaRPr lang="en-US" dirty="0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28741E3-276D-5D38-BBB4-F4A0BB302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F03FB-083D-3CBD-8AAF-88BEF5F88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716" y="1800700"/>
            <a:ext cx="9144019" cy="4517145"/>
          </a:xfrm>
          <a:prstGeom prst="rect">
            <a:avLst/>
          </a:prstGeom>
        </p:spPr>
      </p:pic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2B63F6B8-A4F1-17BE-BAF5-6DFB8FB345CE}"/>
              </a:ext>
            </a:extLst>
          </p:cNvPr>
          <p:cNvSpPr txBox="1">
            <a:spLocks/>
          </p:cNvSpPr>
          <p:nvPr/>
        </p:nvSpPr>
        <p:spPr>
          <a:xfrm>
            <a:off x="1878635" y="6351731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U.S. Census Bureau, Population Estimates Program</a:t>
            </a:r>
          </a:p>
        </p:txBody>
      </p:sp>
    </p:spTree>
    <p:extLst>
      <p:ext uri="{BB962C8B-B14F-4D97-AF65-F5344CB8AC3E}">
        <p14:creationId xmlns:p14="http://schemas.microsoft.com/office/powerpoint/2010/main" val="226168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7CEFD-6CE8-D523-AFD4-580043E4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B31-D232-621D-F2B4-109BE3E12D8E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4B4AD81-02CF-4D46-B2D8-E727F263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2</a:t>
            </a:fld>
            <a:endParaRPr lang="en-US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469BE614-02F9-09AC-79B8-FDED84AD3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A472C8-30BA-CE51-C079-51052EF1A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5920" y="1801368"/>
            <a:ext cx="9144019" cy="4517145"/>
          </a:xfrm>
          <a:prstGeom prst="rect">
            <a:avLst/>
          </a:prstGeom>
        </p:spPr>
      </p:pic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A1473B2-486D-0876-DB0D-5DECE987DF09}"/>
              </a:ext>
            </a:extLst>
          </p:cNvPr>
          <p:cNvSpPr txBox="1">
            <a:spLocks/>
          </p:cNvSpPr>
          <p:nvPr/>
        </p:nvSpPr>
        <p:spPr>
          <a:xfrm>
            <a:off x="1878635" y="6356350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U.S. Census Bureau, American Community Survey, Table B11001</a:t>
            </a:r>
          </a:p>
        </p:txBody>
      </p:sp>
      <p:sp>
        <p:nvSpPr>
          <p:cNvPr id="10" name="Google Shape;67;p15">
            <a:extLst>
              <a:ext uri="{FF2B5EF4-FFF2-40B4-BE49-F238E27FC236}">
                <a16:creationId xmlns:a16="http://schemas.microsoft.com/office/drawing/2014/main" id="{7A99A70E-22BC-6400-AEA7-D4D9100811A1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chemeClr val="bg1"/>
                </a:solidFill>
                <a:latin typeface="Mulish Heavy"/>
                <a:sym typeface="Noto Sans Black"/>
              </a:rPr>
              <a:t>Single-person household growth nearly on pace with married families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Change in households by type: 2021 to 2023</a:t>
            </a:r>
          </a:p>
        </p:txBody>
      </p:sp>
    </p:spTree>
    <p:extLst>
      <p:ext uri="{BB962C8B-B14F-4D97-AF65-F5344CB8AC3E}">
        <p14:creationId xmlns:p14="http://schemas.microsoft.com/office/powerpoint/2010/main" val="335436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FED4-A3D3-4B0C-3D6E-6CAE5907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11A8D3-DB2D-72A2-C037-7CB12CA670CA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E63F772-7E10-4006-53E4-ADD08F15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3</a:t>
            </a:fld>
            <a:endParaRPr lang="en-US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F7B1BD1-C82B-6C83-260B-19EF5511E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BC9B5-E2DE-2ADC-3886-81B7EE82C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62731"/>
            <a:ext cx="10972822" cy="4517145"/>
          </a:xfrm>
          <a:prstGeom prst="rect">
            <a:avLst/>
          </a:prstGeom>
        </p:spPr>
      </p:pic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15093B77-C41B-F04C-349A-702C7E56E9A1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ulish Heavy"/>
                <a:sym typeface="Noto Sans Black"/>
              </a:rPr>
              <a:t>Apartment production slowing after post-pandemic “mini boom”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Multifamily units under construction and delivered: 2020 Q1 to 2025 Q4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4AEADE32-89D1-385E-98E4-FA13C35E3C0E}"/>
              </a:ext>
            </a:extLst>
          </p:cNvPr>
          <p:cNvSpPr txBox="1">
            <a:spLocks/>
          </p:cNvSpPr>
          <p:nvPr/>
        </p:nvSpPr>
        <p:spPr>
          <a:xfrm>
            <a:off x="1878635" y="6356350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CoStar Group, Inc.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718E271A-6BD7-1883-225B-7666EE1F034A}"/>
              </a:ext>
            </a:extLst>
          </p:cNvPr>
          <p:cNvSpPr txBox="1">
            <a:spLocks/>
          </p:cNvSpPr>
          <p:nvPr/>
        </p:nvSpPr>
        <p:spPr>
          <a:xfrm>
            <a:off x="1665275" y="2297927"/>
            <a:ext cx="3359949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5BAB8E"/>
                </a:solidFill>
              </a:rPr>
              <a:t>Under Construction</a:t>
            </a:r>
          </a:p>
          <a:p>
            <a:pPr algn="l"/>
            <a:r>
              <a:rPr lang="en-US" sz="1800" b="1" dirty="0">
                <a:solidFill>
                  <a:srgbClr val="2B6B9C"/>
                </a:solidFill>
              </a:rPr>
              <a:t>Deliveries</a:t>
            </a:r>
          </a:p>
        </p:txBody>
      </p:sp>
    </p:spTree>
    <p:extLst>
      <p:ext uri="{BB962C8B-B14F-4D97-AF65-F5344CB8AC3E}">
        <p14:creationId xmlns:p14="http://schemas.microsoft.com/office/powerpoint/2010/main" val="280044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5258-D327-552D-7D80-9B5C5BBB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E9DDB8-B3D3-0A2A-4106-70C0125EE7FB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E1EE1DD-FC89-2DAB-F150-248791BB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4</a:t>
            </a:fld>
            <a:endParaRPr lang="en-US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08311E6-1FE3-368E-CCE9-EDF198071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901A22-5461-4838-15E7-34F153659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89" y="1662731"/>
            <a:ext cx="10972822" cy="4517145"/>
          </a:xfrm>
          <a:prstGeom prst="rect">
            <a:avLst/>
          </a:prstGeom>
        </p:spPr>
      </p:pic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37F18C18-E49C-13BE-E4C0-78E06474491A}"/>
              </a:ext>
            </a:extLst>
          </p:cNvPr>
          <p:cNvSpPr txBox="1">
            <a:spLocks/>
          </p:cNvSpPr>
          <p:nvPr/>
        </p:nvSpPr>
        <p:spPr>
          <a:xfrm>
            <a:off x="1878635" y="6356350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CoStar Group, Inc.</a:t>
            </a:r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3CA6D3F6-9DDB-0364-4104-C92BC4606EFB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ulish Heavy"/>
                <a:sym typeface="Noto Sans Black"/>
              </a:rPr>
              <a:t>Rent growth cooling as new supply comes online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Average asking rent YOY growth and vacancy rate: 2020 Q1 to 2025 Q4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B4EFF463-D84E-A0A3-6FC3-7890E3296C36}"/>
              </a:ext>
            </a:extLst>
          </p:cNvPr>
          <p:cNvSpPr txBox="1">
            <a:spLocks/>
          </p:cNvSpPr>
          <p:nvPr/>
        </p:nvSpPr>
        <p:spPr>
          <a:xfrm>
            <a:off x="2613627" y="4444967"/>
            <a:ext cx="3359949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5BAB8E"/>
                </a:solidFill>
              </a:rPr>
              <a:t>Average Asking Rent</a:t>
            </a:r>
          </a:p>
          <a:p>
            <a:pPr algn="ctr"/>
            <a:r>
              <a:rPr lang="en-US" sz="2000" b="1" dirty="0">
                <a:solidFill>
                  <a:srgbClr val="5BAB8E"/>
                </a:solidFill>
              </a:rPr>
              <a:t>YOY Growth</a:t>
            </a:r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E4AF03F2-574B-DABE-86C1-3F09D78D35D0}"/>
              </a:ext>
            </a:extLst>
          </p:cNvPr>
          <p:cNvSpPr txBox="1">
            <a:spLocks/>
          </p:cNvSpPr>
          <p:nvPr/>
        </p:nvSpPr>
        <p:spPr>
          <a:xfrm>
            <a:off x="6843721" y="2873907"/>
            <a:ext cx="3359949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2B6B9C"/>
                </a:solidFill>
              </a:rPr>
              <a:t>Vacancy Rate</a:t>
            </a:r>
          </a:p>
        </p:txBody>
      </p:sp>
    </p:spTree>
    <p:extLst>
      <p:ext uri="{BB962C8B-B14F-4D97-AF65-F5344CB8AC3E}">
        <p14:creationId xmlns:p14="http://schemas.microsoft.com/office/powerpoint/2010/main" val="342856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A5A3-557C-1B64-EE58-13A0B95D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0E84A4-1F2B-549D-AE42-DD4F0C56945A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19EEA24-FB83-D908-914C-7DC54A98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5</a:t>
            </a:fld>
            <a:endParaRPr lang="en-US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640649B-C8C9-DA93-7E03-3BC7650C9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3081EF-2D4B-45C2-3894-0DA619713E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89" y="1662731"/>
            <a:ext cx="10972822" cy="4517145"/>
          </a:xfrm>
          <a:prstGeom prst="rect">
            <a:avLst/>
          </a:prstGeom>
        </p:spPr>
      </p:pic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3CE9000E-5A86-73D6-0838-4DACC589D91C}"/>
              </a:ext>
            </a:extLst>
          </p:cNvPr>
          <p:cNvSpPr txBox="1">
            <a:spLocks/>
          </p:cNvSpPr>
          <p:nvPr/>
        </p:nvSpPr>
        <p:spPr>
          <a:xfrm>
            <a:off x="1878635" y="6356350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CVR MLS</a:t>
            </a:r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FC4AA7FA-F0C8-A946-ABC9-CDF3EF807F8A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ulish Heavy"/>
                <a:sym typeface="Noto Sans Black"/>
              </a:rPr>
              <a:t>Monthly listings on the rise, but remain historically low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Number of active listings per month: Jan 2023 to Dec 2025</a:t>
            </a:r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AF2A6222-DE9E-D7E3-D6CC-112C7DE0DDA5}"/>
              </a:ext>
            </a:extLst>
          </p:cNvPr>
          <p:cNvSpPr txBox="1">
            <a:spLocks/>
          </p:cNvSpPr>
          <p:nvPr/>
        </p:nvSpPr>
        <p:spPr>
          <a:xfrm>
            <a:off x="1878635" y="2708181"/>
            <a:ext cx="3116911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tx2"/>
                </a:solidFill>
              </a:rPr>
              <a:t>▼ 2020-2022 Average:</a:t>
            </a:r>
          </a:p>
          <a:p>
            <a:pPr algn="l"/>
            <a:r>
              <a:rPr lang="en-US" sz="3200" b="1" dirty="0">
                <a:solidFill>
                  <a:schemeClr val="tx2"/>
                </a:solidFill>
              </a:rPr>
              <a:t>2,206</a:t>
            </a: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EB788FFD-C441-9ACC-9FF9-600418CB5A9A}"/>
              </a:ext>
            </a:extLst>
          </p:cNvPr>
          <p:cNvSpPr txBox="1">
            <a:spLocks/>
          </p:cNvSpPr>
          <p:nvPr/>
        </p:nvSpPr>
        <p:spPr>
          <a:xfrm>
            <a:off x="4476583" y="1879399"/>
            <a:ext cx="3116911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tx2"/>
                </a:solidFill>
              </a:rPr>
              <a:t>▲ 2016-2019 Average:</a:t>
            </a:r>
          </a:p>
          <a:p>
            <a:pPr algn="l"/>
            <a:r>
              <a:rPr lang="en-US" sz="3200" b="1" dirty="0">
                <a:solidFill>
                  <a:schemeClr val="tx2"/>
                </a:solidFill>
              </a:rPr>
              <a:t>3,891</a:t>
            </a:r>
          </a:p>
        </p:txBody>
      </p:sp>
    </p:spTree>
    <p:extLst>
      <p:ext uri="{BB962C8B-B14F-4D97-AF65-F5344CB8AC3E}">
        <p14:creationId xmlns:p14="http://schemas.microsoft.com/office/powerpoint/2010/main" val="35236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AB65-CB03-4275-FF1C-08122A79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3595A1-54A2-68F3-186E-43D10203C880}"/>
              </a:ext>
            </a:extLst>
          </p:cNvPr>
          <p:cNvSpPr/>
          <p:nvPr/>
        </p:nvSpPr>
        <p:spPr>
          <a:xfrm>
            <a:off x="0" y="-38505"/>
            <a:ext cx="12192000" cy="1584251"/>
          </a:xfrm>
          <a:prstGeom prst="rect">
            <a:avLst/>
          </a:prstGeom>
          <a:solidFill>
            <a:srgbClr val="0B2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B1FA98-EC4B-F94B-7C2B-5F3FE7FA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E17D8-4154-41CF-AD6E-68A52A9D020B}" type="slidenum">
              <a:rPr lang="en-US" smtClean="0"/>
              <a:t>6</a:t>
            </a:fld>
            <a:endParaRPr lang="en-US"/>
          </a:p>
        </p:txBody>
      </p:sp>
      <p:pic>
        <p:nvPicPr>
          <p:cNvPr id="17" name="Picture 1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1ACBC35A-474C-A299-D2A0-1997748CA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4" y="6258356"/>
            <a:ext cx="1643181" cy="457200"/>
          </a:xfrm>
          <a:prstGeom prst="rect">
            <a:avLst/>
          </a:prstGeom>
        </p:spPr>
      </p:pic>
      <p:sp>
        <p:nvSpPr>
          <p:cNvPr id="4" name="Google Shape;67;p15">
            <a:extLst>
              <a:ext uri="{FF2B5EF4-FFF2-40B4-BE49-F238E27FC236}">
                <a16:creationId xmlns:a16="http://schemas.microsoft.com/office/drawing/2014/main" id="{BB6F1AD9-0583-F836-6570-8A1D6D0DE688}"/>
              </a:ext>
            </a:extLst>
          </p:cNvPr>
          <p:cNvSpPr txBox="1">
            <a:spLocks/>
          </p:cNvSpPr>
          <p:nvPr/>
        </p:nvSpPr>
        <p:spPr>
          <a:xfrm>
            <a:off x="235453" y="0"/>
            <a:ext cx="11956547" cy="1584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ulish Heavy"/>
                <a:sym typeface="Noto Sans Black"/>
              </a:rPr>
              <a:t>Buyers finally beginning to have more options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solidFill>
                  <a:schemeClr val="bg1"/>
                </a:solidFill>
                <a:latin typeface="Mulish Medium"/>
              </a:rPr>
              <a:t>Average days to sell and YOY median sales price growth: Jan 2023 to Dec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0149A-BF51-F4E7-CE3B-77FEA4B0299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89" y="1662731"/>
            <a:ext cx="10972822" cy="4517145"/>
          </a:xfrm>
          <a:prstGeom prst="rect">
            <a:avLst/>
          </a:prstGeom>
        </p:spPr>
      </p:pic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9A83D0E4-65AF-2FC1-4259-69E88044207D}"/>
              </a:ext>
            </a:extLst>
          </p:cNvPr>
          <p:cNvSpPr txBox="1">
            <a:spLocks/>
          </p:cNvSpPr>
          <p:nvPr/>
        </p:nvSpPr>
        <p:spPr>
          <a:xfrm>
            <a:off x="6213726" y="2035739"/>
            <a:ext cx="3359949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2B6B9C"/>
                </a:solidFill>
              </a:rPr>
              <a:t>Average Days to Sell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4B376072-7046-01DE-DACF-94B36C6BA17A}"/>
              </a:ext>
            </a:extLst>
          </p:cNvPr>
          <p:cNvSpPr txBox="1">
            <a:spLocks/>
          </p:cNvSpPr>
          <p:nvPr/>
        </p:nvSpPr>
        <p:spPr>
          <a:xfrm>
            <a:off x="2853777" y="4659652"/>
            <a:ext cx="3359949" cy="7503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5BAB8E"/>
                </a:solidFill>
              </a:rPr>
              <a:t>Median Sales Price</a:t>
            </a:r>
          </a:p>
          <a:p>
            <a:pPr algn="ctr"/>
            <a:r>
              <a:rPr lang="en-US" sz="2000" b="1" dirty="0">
                <a:solidFill>
                  <a:srgbClr val="5BAB8E"/>
                </a:solidFill>
              </a:rPr>
              <a:t>YOY Growth</a:t>
            </a:r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36F3E518-9C26-6927-0DE8-ABC6B2E8863E}"/>
              </a:ext>
            </a:extLst>
          </p:cNvPr>
          <p:cNvSpPr txBox="1">
            <a:spLocks/>
          </p:cNvSpPr>
          <p:nvPr/>
        </p:nvSpPr>
        <p:spPr>
          <a:xfrm>
            <a:off x="1878635" y="6356350"/>
            <a:ext cx="914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Source: </a:t>
            </a:r>
            <a:r>
              <a:rPr lang="en-US" dirty="0"/>
              <a:t>CVR MLS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D4B4091F-CAF1-5D3B-DC43-ABDA48AD62AB}"/>
              </a:ext>
            </a:extLst>
          </p:cNvPr>
          <p:cNvSpPr txBox="1">
            <a:spLocks/>
          </p:cNvSpPr>
          <p:nvPr/>
        </p:nvSpPr>
        <p:spPr>
          <a:xfrm>
            <a:off x="1479710" y="1891789"/>
            <a:ext cx="3116911" cy="894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2"/>
                </a:solidFill>
              </a:rPr>
              <a:t>2025 Q4 Median Sales Price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$417,500</a:t>
            </a:r>
          </a:p>
        </p:txBody>
      </p:sp>
    </p:spTree>
    <p:extLst>
      <p:ext uri="{BB962C8B-B14F-4D97-AF65-F5344CB8AC3E}">
        <p14:creationId xmlns:p14="http://schemas.microsoft.com/office/powerpoint/2010/main" val="289892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223</Words>
  <Application>Microsoft Office PowerPoint</Application>
  <PresentationFormat>Widescreen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Mulish Heavy</vt:lpstr>
      <vt:lpstr>Mulish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Woody Rogers</dc:creator>
  <cp:lastModifiedBy>Jonathan Knopf</cp:lastModifiedBy>
  <cp:revision>2</cp:revision>
  <dcterms:created xsi:type="dcterms:W3CDTF">2026-01-20T19:12:46Z</dcterms:created>
  <dcterms:modified xsi:type="dcterms:W3CDTF">2026-01-22T18:17:34Z</dcterms:modified>
</cp:coreProperties>
</file>